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5" r:id="rId4"/>
    <p:sldId id="266" r:id="rId5"/>
    <p:sldId id="259" r:id="rId6"/>
    <p:sldId id="260" r:id="rId7"/>
    <p:sldId id="268" r:id="rId8"/>
    <p:sldId id="261" r:id="rId9"/>
    <p:sldId id="271" r:id="rId10"/>
    <p:sldId id="264" r:id="rId11"/>
    <p:sldId id="263" r:id="rId12"/>
    <p:sldId id="273" r:id="rId13"/>
    <p:sldId id="272" r:id="rId14"/>
    <p:sldId id="267" r:id="rId15"/>
    <p:sldId id="274" r:id="rId16"/>
    <p:sldId id="276" r:id="rId17"/>
    <p:sldId id="275" r:id="rId1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901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927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62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269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91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1940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1165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301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96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7164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8390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0F6D0-F9CB-4867-9D58-EA6964551417}" type="datetimeFigureOut">
              <a:rPr lang="pl-PL" smtClean="0"/>
              <a:t>23.01.2026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AEA9A-204B-4378-8D04-1B5F5E7FDC2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0165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>
                <a:latin typeface="Bahnschrift SemiBold SemiConden" panose="020B0502040204020203" pitchFamily="34" charset="0"/>
              </a:rPr>
              <a:t>MENU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>
                <a:latin typeface="Bahnschrift Light" panose="020B0502040204020203" pitchFamily="34" charset="0"/>
              </a:rPr>
              <a:t>Michał Żołdak, Jacek </a:t>
            </a:r>
            <a:r>
              <a:rPr lang="pl-PL" dirty="0" err="1">
                <a:latin typeface="Bahnschrift Light" panose="020B0502040204020203" pitchFamily="34" charset="0"/>
              </a:rPr>
              <a:t>Drożdżowski</a:t>
            </a:r>
            <a:endParaRPr lang="pl-PL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56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Czym jest menu?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Menu to element nawigacyjny strony internetowej, który umożliwia użytkownikowi poruszanie się pomiędzy podstronami.</a:t>
            </a:r>
            <a:b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Zawiera linki do najważniejszych sekcji serwisu i ułatwia szybkie odnalezienie informacji.</a:t>
            </a:r>
            <a:b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Jest jednym z kluczowych elementów interfejsu użytkownika w aplikacjach front-</a:t>
            </a:r>
            <a:r>
              <a:rPr lang="pl-PL" dirty="0" err="1">
                <a:latin typeface="Arial" panose="020B0604020202020204" pitchFamily="34" charset="0"/>
                <a:cs typeface="Arial" panose="020B0604020202020204" pitchFamily="34" charset="0"/>
              </a:rPr>
              <a:t>endowych</a:t>
            </a:r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8637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Czego używamy do tworzenia menu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HTML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/>
              <a:t>&lt;</a:t>
            </a:r>
            <a:r>
              <a:rPr lang="pl-PL" dirty="0" err="1"/>
              <a:t>nav</a:t>
            </a:r>
            <a:r>
              <a:rPr lang="pl-PL" dirty="0"/>
              <a:t>&gt;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/>
              <a:t>&lt;ul&gt;, &lt;li&gt;, &lt;a&gt;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l-PL" dirty="0"/>
          </a:p>
        </p:txBody>
      </p:sp>
      <p:sp>
        <p:nvSpPr>
          <p:cNvPr id="4" name="Symbol zastępczy zawartości 2"/>
          <p:cNvSpPr txBox="1">
            <a:spLocks/>
          </p:cNvSpPr>
          <p:nvPr/>
        </p:nvSpPr>
        <p:spPr>
          <a:xfrm>
            <a:off x="838200" y="312755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CSS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 err="1"/>
              <a:t>flex</a:t>
            </a:r>
            <a:endParaRPr lang="pl-PL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 err="1"/>
              <a:t>Position</a:t>
            </a:r>
            <a:endParaRPr lang="pl-PL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l-PL" dirty="0" err="1"/>
              <a:t>hover</a:t>
            </a:r>
            <a:endParaRPr lang="pl-PL" dirty="0"/>
          </a:p>
          <a:p>
            <a:pPr lvl="1">
              <a:buFont typeface="Wingdings" panose="05000000000000000000" pitchFamily="2" charset="2"/>
              <a:buChar char="§"/>
            </a:pPr>
            <a:endParaRPr lang="pl-PL" dirty="0"/>
          </a:p>
        </p:txBody>
      </p:sp>
      <p:pic>
        <p:nvPicPr>
          <p:cNvPr id="1026" name="Picture 2" descr="Html5 - Free Icon PNG, SV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392" y="1825625"/>
            <a:ext cx="454025" cy="45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le:CSS3 logo and wordmark.svg - Wikimedia Common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47"/>
          <a:stretch/>
        </p:blipFill>
        <p:spPr bwMode="auto">
          <a:xfrm>
            <a:off x="1820790" y="3203639"/>
            <a:ext cx="324266" cy="377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166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Przykładowa struktura menu</a:t>
            </a:r>
          </a:p>
        </p:txBody>
      </p:sp>
      <p:pic>
        <p:nvPicPr>
          <p:cNvPr id="4" name="Symbol zastępczy zawartości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4974"/>
            <a:ext cx="3789174" cy="2714924"/>
          </a:xfrm>
          <a:prstGeom prst="rect">
            <a:avLst/>
          </a:prstGeom>
        </p:spPr>
      </p:pic>
      <p:pic>
        <p:nvPicPr>
          <p:cNvPr id="5" name="Obraz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344" y="2434974"/>
            <a:ext cx="6182256" cy="271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80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000" dirty="0">
                <a:latin typeface="Impact" panose="020B0806030902050204" pitchFamily="34" charset="0"/>
              </a:rPr>
              <a:t>Rodzaje menu</a:t>
            </a:r>
          </a:p>
        </p:txBody>
      </p:sp>
    </p:spTree>
    <p:extLst>
      <p:ext uri="{BB962C8B-B14F-4D97-AF65-F5344CB8AC3E}">
        <p14:creationId xmlns:p14="http://schemas.microsoft.com/office/powerpoint/2010/main" val="1596392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7" y="752737"/>
            <a:ext cx="11351245" cy="542422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199" y="1035685"/>
            <a:ext cx="10515600" cy="1325563"/>
          </a:xfrm>
        </p:spPr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Menu poziome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38199" y="2093437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Ułożone w jednym wierszu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Najczęściej na górze strony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Popularne w stronach firmowych i blogach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Zalety: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Zajmuje mało miejsca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Czytelne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Łatwe w obsłudze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Wady: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Ograniczona liczba elementów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Słabo widoczne na małych ekranach (bez RWD)</a:t>
            </a:r>
          </a:p>
          <a:p>
            <a:pPr>
              <a:buFont typeface="Wingdings" panose="05000000000000000000" pitchFamily="2" charset="2"/>
              <a:buChar char="Ø"/>
            </a:pP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820963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Menu poziome - ćwiczenie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Stwórz menu poziome z linkami:</a:t>
            </a:r>
          </a:p>
          <a:p>
            <a:pPr lvl="1"/>
            <a:r>
              <a:rPr lang="pl-PL" dirty="0"/>
              <a:t>Start</a:t>
            </a:r>
          </a:p>
          <a:p>
            <a:pPr lvl="1"/>
            <a:r>
              <a:rPr lang="pl-PL" dirty="0"/>
              <a:t>Oferta</a:t>
            </a:r>
          </a:p>
          <a:p>
            <a:pPr lvl="1"/>
            <a:r>
              <a:rPr lang="pl-PL" dirty="0"/>
              <a:t>Galeria</a:t>
            </a:r>
          </a:p>
          <a:p>
            <a:pPr lvl="1"/>
            <a:r>
              <a:rPr lang="pl-PL" dirty="0"/>
              <a:t>Kontakt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Menu na górze strony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Po najechaniu na link zmienia się kolor jego tła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Każda osoba ma wybrać własny kolor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Znaczniki semantyczne </a:t>
            </a:r>
            <a:r>
              <a:rPr lang="pl-PL" dirty="0" err="1"/>
              <a:t>html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8837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18" y="708124"/>
            <a:ext cx="11351245" cy="543605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292532" y="547016"/>
            <a:ext cx="10515600" cy="1325563"/>
          </a:xfrm>
        </p:spPr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Menu pionowe</a:t>
            </a:r>
          </a:p>
        </p:txBody>
      </p:sp>
      <p:sp>
        <p:nvSpPr>
          <p:cNvPr id="4" name="Symbol zastępczy zawartości 2"/>
          <p:cNvSpPr>
            <a:spLocks noGrp="1"/>
          </p:cNvSpPr>
          <p:nvPr>
            <p:ph idx="1"/>
          </p:nvPr>
        </p:nvSpPr>
        <p:spPr>
          <a:xfrm>
            <a:off x="2292532" y="1641801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Ułożone w kolumnie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Najczęściej po lewej lub prawej stronie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Zalety: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Dużo miejsca na linki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Dobre dla paneli administracyjnych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Wady: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Ogranicza miejsce na treść strony</a:t>
            </a:r>
          </a:p>
          <a:p>
            <a:pPr>
              <a:buFont typeface="Wingdings" panose="05000000000000000000" pitchFamily="2" charset="2"/>
              <a:buChar char="Ø"/>
            </a:pP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32041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Menu pionowe - ćwiczenie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Stwórz menu pionowe z linkami:</a:t>
            </a:r>
          </a:p>
          <a:p>
            <a:pPr lvl="1"/>
            <a:r>
              <a:rPr lang="pl-PL" dirty="0"/>
              <a:t>Panel</a:t>
            </a:r>
          </a:p>
          <a:p>
            <a:pPr lvl="1"/>
            <a:r>
              <a:rPr lang="pl-PL" dirty="0"/>
              <a:t>Użytkownicy</a:t>
            </a:r>
          </a:p>
          <a:p>
            <a:pPr lvl="1"/>
            <a:r>
              <a:rPr lang="pl-PL" dirty="0"/>
              <a:t>Ustawienia</a:t>
            </a:r>
          </a:p>
          <a:p>
            <a:pPr lvl="1"/>
            <a:r>
              <a:rPr lang="pl-PL" dirty="0"/>
              <a:t>Wyloguj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Menu po lewej stronie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Ma być treść strony, która znajduje się obok menu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Każda osoba ma wybrać własny kolor tematyczny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Stała szerokość, menu w tym samym miejscu podczas </a:t>
            </a:r>
            <a:r>
              <a:rPr lang="pl-PL" dirty="0" err="1"/>
              <a:t>scrolla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Link „wyloguj” na samym końcu menu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Znaczniki semantyczne </a:t>
            </a:r>
            <a:r>
              <a:rPr lang="pl-PL" dirty="0" err="1"/>
              <a:t>html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79845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Porównanie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sz="4300" dirty="0">
                <a:latin typeface="Impact" panose="020B0806030902050204" pitchFamily="34" charset="0"/>
              </a:rPr>
              <a:t>Menu poziome:</a:t>
            </a:r>
          </a:p>
          <a:p>
            <a:pPr lvl="1"/>
            <a:r>
              <a:rPr lang="pl-PL" dirty="0"/>
              <a:t>Gdzie się używa</a:t>
            </a:r>
            <a:r>
              <a:rPr lang="pl-PL" b="1" dirty="0"/>
              <a:t>:</a:t>
            </a:r>
            <a:endParaRPr lang="pl-PL" dirty="0"/>
          </a:p>
          <a:p>
            <a:pPr lvl="2"/>
            <a:r>
              <a:rPr lang="pl-PL" dirty="0"/>
              <a:t>strony firmowe</a:t>
            </a:r>
          </a:p>
          <a:p>
            <a:pPr lvl="2"/>
            <a:r>
              <a:rPr lang="pl-PL" dirty="0"/>
              <a:t>blogi</a:t>
            </a:r>
          </a:p>
          <a:p>
            <a:pPr lvl="2"/>
            <a:r>
              <a:rPr lang="pl-PL" dirty="0"/>
              <a:t>strony wizytówki</a:t>
            </a:r>
          </a:p>
          <a:p>
            <a:pPr lvl="2"/>
            <a:r>
              <a:rPr lang="pl-PL" dirty="0"/>
              <a:t>sklepy internetowe (główna nawigacja)</a:t>
            </a:r>
          </a:p>
          <a:p>
            <a:pPr lvl="1"/>
            <a:r>
              <a:rPr lang="pl-PL" dirty="0"/>
              <a:t>Charakterystyka:</a:t>
            </a:r>
          </a:p>
          <a:p>
            <a:pPr lvl="2"/>
            <a:r>
              <a:rPr lang="pl-PL" dirty="0"/>
              <a:t>ułożone w jednym wierszu</a:t>
            </a:r>
          </a:p>
          <a:p>
            <a:pPr lvl="2"/>
            <a:r>
              <a:rPr lang="pl-PL" dirty="0"/>
              <a:t>najczęściej na górze strony</a:t>
            </a:r>
          </a:p>
          <a:p>
            <a:pPr lvl="2"/>
            <a:r>
              <a:rPr lang="pl-PL" dirty="0"/>
              <a:t>przejrzyste i intuicyjne</a:t>
            </a:r>
          </a:p>
          <a:p>
            <a:pPr lvl="1"/>
            <a:r>
              <a:rPr lang="pl-PL" dirty="0"/>
              <a:t>Kiedy wybrać:</a:t>
            </a:r>
          </a:p>
          <a:p>
            <a:pPr lvl="2"/>
            <a:r>
              <a:rPr lang="pl-PL" dirty="0"/>
              <a:t>gdy jest mało kategorii</a:t>
            </a:r>
          </a:p>
          <a:p>
            <a:pPr lvl="2"/>
            <a:r>
              <a:rPr lang="pl-PL" dirty="0"/>
              <a:t>gdy zależy nam na prostocie i estetyce</a:t>
            </a:r>
          </a:p>
          <a:p>
            <a:endParaRPr lang="pl-PL" dirty="0"/>
          </a:p>
          <a:p>
            <a:endParaRPr lang="pl-PL" dirty="0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sz="4300" dirty="0">
                <a:latin typeface="Impact" panose="020B0806030902050204" pitchFamily="34" charset="0"/>
              </a:rPr>
              <a:t>Menu pionowe:</a:t>
            </a:r>
          </a:p>
          <a:p>
            <a:pPr lvl="1"/>
            <a:r>
              <a:rPr lang="pl-PL" dirty="0"/>
              <a:t>Gdzie się używa</a:t>
            </a:r>
            <a:r>
              <a:rPr lang="pl-PL" b="1" dirty="0"/>
              <a:t>:</a:t>
            </a:r>
            <a:endParaRPr lang="pl-PL" dirty="0"/>
          </a:p>
          <a:p>
            <a:pPr lvl="2"/>
            <a:r>
              <a:rPr lang="pl-PL" dirty="0"/>
              <a:t>Panele administracyjne</a:t>
            </a:r>
          </a:p>
          <a:p>
            <a:pPr lvl="2"/>
            <a:r>
              <a:rPr lang="pl-PL" dirty="0"/>
              <a:t>Aplikacje webowe</a:t>
            </a:r>
          </a:p>
          <a:p>
            <a:pPr lvl="2"/>
            <a:r>
              <a:rPr lang="pl-PL" dirty="0" err="1"/>
              <a:t>dashboardy</a:t>
            </a:r>
            <a:endParaRPr lang="pl-PL" dirty="0"/>
          </a:p>
          <a:p>
            <a:pPr lvl="1"/>
            <a:r>
              <a:rPr lang="pl-PL" dirty="0"/>
              <a:t>Charakterystyka:</a:t>
            </a:r>
          </a:p>
          <a:p>
            <a:pPr lvl="2"/>
            <a:r>
              <a:rPr lang="pl-PL" dirty="0"/>
              <a:t>ułożone w kolumnie</a:t>
            </a:r>
          </a:p>
          <a:p>
            <a:pPr lvl="2"/>
            <a:r>
              <a:rPr lang="pl-PL" dirty="0"/>
              <a:t>najczęściej na boku strony</a:t>
            </a:r>
          </a:p>
          <a:p>
            <a:pPr lvl="2"/>
            <a:r>
              <a:rPr lang="pl-PL" dirty="0"/>
              <a:t>Umożliwia dużą liczbę linków</a:t>
            </a:r>
          </a:p>
          <a:p>
            <a:pPr lvl="1"/>
            <a:r>
              <a:rPr lang="pl-PL" dirty="0"/>
              <a:t>Kiedy wybrać:</a:t>
            </a:r>
          </a:p>
          <a:p>
            <a:pPr lvl="2"/>
            <a:r>
              <a:rPr lang="pl-PL" dirty="0"/>
              <a:t>Gdy strona ma rozbudowaną strukturę</a:t>
            </a:r>
          </a:p>
          <a:p>
            <a:pPr lvl="2"/>
            <a:r>
              <a:rPr lang="pl-PL" dirty="0"/>
              <a:t>Gdy potrzebne jest stałe menu boczne</a:t>
            </a:r>
          </a:p>
          <a:p>
            <a:pPr marL="0" indent="0">
              <a:buNone/>
            </a:pPr>
            <a:endParaRPr lang="pl-PL" sz="4700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02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Menu wielopoziomowe</a:t>
            </a:r>
          </a:p>
        </p:txBody>
      </p:sp>
      <p:sp>
        <p:nvSpPr>
          <p:cNvPr id="4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Menu z Podmenu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Elementy rozwijane po najechaniu lub kliknięciu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 err="1"/>
              <a:t>Dropdown</a:t>
            </a:r>
            <a:endParaRPr lang="pl-PL" sz="2400" dirty="0"/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Zalety: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Dobra organizacja treści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Możliwość rozbudowanej nawigacji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sz="2400" dirty="0"/>
              <a:t>Wady: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Trudniejsze w wykonaniu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sz="1600" dirty="0"/>
              <a:t>Może być nieczytelne z nieodpowiednimi stylami</a:t>
            </a:r>
            <a:endParaRPr lang="pl-PL" sz="2000" dirty="0"/>
          </a:p>
          <a:p>
            <a:pPr lvl="1">
              <a:buFont typeface="Wingdings" panose="05000000000000000000" pitchFamily="2" charset="2"/>
              <a:buChar char="Ø"/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86358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Jak tworzyć menu wielopoziomowe?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Struktura HTML</a:t>
            </a:r>
          </a:p>
          <a:p>
            <a:pPr lvl="1"/>
            <a:r>
              <a:rPr lang="pl-PL" dirty="0"/>
              <a:t>Użycie &lt;</a:t>
            </a:r>
            <a:r>
              <a:rPr lang="pl-PL" dirty="0" err="1"/>
              <a:t>nav</a:t>
            </a:r>
            <a:r>
              <a:rPr lang="pl-PL" dirty="0"/>
              <a:t>&gt;, &lt;ul&gt; oraz &lt;li&gt;</a:t>
            </a:r>
          </a:p>
          <a:p>
            <a:pPr lvl="1"/>
            <a:r>
              <a:rPr lang="pl-PL" dirty="0"/>
              <a:t>Zagnieżdżanie list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Style CSS</a:t>
            </a:r>
          </a:p>
          <a:p>
            <a:pPr lvl="1"/>
            <a:r>
              <a:rPr lang="pl-PL" dirty="0" err="1"/>
              <a:t>Flex</a:t>
            </a:r>
            <a:endParaRPr lang="pl-PL" dirty="0"/>
          </a:p>
          <a:p>
            <a:pPr lvl="1"/>
            <a:r>
              <a:rPr lang="pl-PL" dirty="0" err="1"/>
              <a:t>Position</a:t>
            </a:r>
            <a:r>
              <a:rPr lang="pl-PL" dirty="0"/>
              <a:t> </a:t>
            </a:r>
            <a:r>
              <a:rPr lang="pl-PL" dirty="0" err="1"/>
              <a:t>relative</a:t>
            </a:r>
            <a:r>
              <a:rPr lang="pl-PL" dirty="0"/>
              <a:t> i </a:t>
            </a:r>
            <a:r>
              <a:rPr lang="pl-PL" dirty="0" err="1"/>
              <a:t>absolute</a:t>
            </a:r>
            <a:endParaRPr lang="pl-PL" dirty="0"/>
          </a:p>
          <a:p>
            <a:pPr lvl="1"/>
            <a:r>
              <a:rPr lang="pl-PL" dirty="0"/>
              <a:t>Display </a:t>
            </a:r>
            <a:r>
              <a:rPr lang="pl-PL" dirty="0" err="1"/>
              <a:t>none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Interakcja</a:t>
            </a:r>
          </a:p>
          <a:p>
            <a:pPr lvl="1"/>
            <a:r>
              <a:rPr lang="pl-PL" dirty="0" err="1"/>
              <a:t>Hover</a:t>
            </a:r>
            <a:endParaRPr lang="pl-PL" dirty="0"/>
          </a:p>
          <a:p>
            <a:pPr lvl="1"/>
            <a:r>
              <a:rPr lang="pl-PL" dirty="0" err="1"/>
              <a:t>Eventlistener</a:t>
            </a:r>
            <a:r>
              <a:rPr lang="pl-PL" dirty="0"/>
              <a:t> </a:t>
            </a:r>
            <a:r>
              <a:rPr lang="pl-PL" dirty="0" err="1"/>
              <a:t>javascript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endParaRPr lang="pl-PL" dirty="0"/>
          </a:p>
          <a:p>
            <a:pPr lvl="1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46427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Menu wielopoziomowe - ćwiczenie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dirty="0"/>
              <a:t>Stwórz menu wielopoziomowe z linkami:</a:t>
            </a:r>
          </a:p>
          <a:p>
            <a:pPr lvl="1"/>
            <a:r>
              <a:rPr lang="pl-PL" dirty="0"/>
              <a:t>Strona</a:t>
            </a:r>
          </a:p>
          <a:p>
            <a:pPr lvl="1"/>
            <a:r>
              <a:rPr lang="pl-PL" dirty="0"/>
              <a:t>Oferta</a:t>
            </a:r>
          </a:p>
          <a:p>
            <a:pPr lvl="2"/>
            <a:r>
              <a:rPr lang="pl-PL" dirty="0"/>
              <a:t>Strony WWW</a:t>
            </a:r>
          </a:p>
          <a:p>
            <a:pPr lvl="2"/>
            <a:r>
              <a:rPr lang="pl-PL" dirty="0"/>
              <a:t>Hosting</a:t>
            </a:r>
          </a:p>
          <a:p>
            <a:pPr lvl="2"/>
            <a:r>
              <a:rPr lang="pl-PL" dirty="0"/>
              <a:t>Serwery</a:t>
            </a:r>
          </a:p>
          <a:p>
            <a:pPr lvl="2"/>
            <a:r>
              <a:rPr lang="pl-PL" dirty="0"/>
              <a:t>Bazy danych</a:t>
            </a:r>
          </a:p>
          <a:p>
            <a:pPr lvl="3"/>
            <a:r>
              <a:rPr lang="pl-PL" dirty="0" err="1"/>
              <a:t>MongoDB</a:t>
            </a:r>
            <a:endParaRPr lang="pl-PL" dirty="0"/>
          </a:p>
          <a:p>
            <a:pPr lvl="3"/>
            <a:r>
              <a:rPr lang="pl-PL" dirty="0" err="1"/>
              <a:t>PostgreSQL</a:t>
            </a:r>
            <a:endParaRPr lang="pl-PL" dirty="0"/>
          </a:p>
          <a:p>
            <a:pPr lvl="1"/>
            <a:r>
              <a:rPr lang="pl-PL" dirty="0"/>
              <a:t>Koszyk</a:t>
            </a:r>
          </a:p>
          <a:p>
            <a:pPr lvl="1"/>
            <a:r>
              <a:rPr lang="pl-PL" dirty="0"/>
              <a:t>Pomoc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Menu na górze strony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Każda osoba ma wybrać własny kolor tematyczny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Znaczniki semantyczne </a:t>
            </a:r>
            <a:r>
              <a:rPr lang="pl-PL" dirty="0" err="1"/>
              <a:t>html</a:t>
            </a:r>
            <a:endParaRPr lang="pl-PL" dirty="0"/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Podmenu pojawia się po najechaniu kursorem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/>
              <a:t>Menu ma mieć animację</a:t>
            </a:r>
          </a:p>
        </p:txBody>
      </p:sp>
    </p:spTree>
    <p:extLst>
      <p:ext uri="{BB962C8B-B14F-4D97-AF65-F5344CB8AC3E}">
        <p14:creationId xmlns:p14="http://schemas.microsoft.com/office/powerpoint/2010/main" val="3920538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RWD Menu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pl-PL" dirty="0"/>
              <a:t>Menu musi działać na: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dirty="0"/>
              <a:t>Komputerach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dirty="0"/>
              <a:t>Tabletach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dirty="0"/>
              <a:t>Smartfonach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pl-PL" dirty="0"/>
              <a:t>Jak to zrobić?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dirty="0"/>
              <a:t>Hamburger menu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dirty="0"/>
              <a:t>Menu zwijane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l-PL" dirty="0"/>
              <a:t>Media </a:t>
            </a:r>
            <a:r>
              <a:rPr lang="pl-PL" dirty="0" err="1"/>
              <a:t>query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84470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4000" dirty="0">
                <a:latin typeface="Impact" panose="020B0806030902050204" pitchFamily="34" charset="0"/>
              </a:rPr>
              <a:t>Menu responsywne - ćwiczenie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l-PL" sz="1600" dirty="0"/>
              <a:t>Stwórz menu poziome z linkami:</a:t>
            </a:r>
          </a:p>
          <a:p>
            <a:pPr lvl="1"/>
            <a:r>
              <a:rPr lang="pl-PL" sz="1600" dirty="0"/>
              <a:t>Start</a:t>
            </a:r>
          </a:p>
          <a:p>
            <a:pPr lvl="1"/>
            <a:r>
              <a:rPr lang="pl-PL" sz="1600" dirty="0"/>
              <a:t>Oferta</a:t>
            </a:r>
          </a:p>
          <a:p>
            <a:pPr lvl="1"/>
            <a:r>
              <a:rPr lang="pl-PL" sz="1600" dirty="0"/>
              <a:t>Galeria</a:t>
            </a:r>
          </a:p>
          <a:p>
            <a:pPr lvl="1"/>
            <a:r>
              <a:rPr lang="pl-PL" sz="1600" dirty="0"/>
              <a:t>Kontakt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600" dirty="0"/>
              <a:t>Menu na górze strony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600" dirty="0"/>
              <a:t>Po najechaniu na link zmienia się kolor jego tła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600" dirty="0"/>
              <a:t>Użycie media </a:t>
            </a:r>
            <a:r>
              <a:rPr lang="pl-PL" sz="1600" dirty="0" err="1"/>
              <a:t>query</a:t>
            </a:r>
            <a:r>
              <a:rPr lang="pl-PL" sz="1600" dirty="0"/>
              <a:t>, jeżeli </a:t>
            </a:r>
            <a:r>
              <a:rPr lang="pl-PL" sz="1600" dirty="0" err="1"/>
              <a:t>text</a:t>
            </a:r>
            <a:r>
              <a:rPr lang="pl-PL" sz="1600" dirty="0"/>
              <a:t> nie będzie się mieścił to zamieniamy linki na przycisk menu, po naciśnięciu pojawia się menu </a:t>
            </a:r>
            <a:r>
              <a:rPr lang="pl-PL" sz="1600" dirty="0" err="1"/>
              <a:t>pioniowe</a:t>
            </a:r>
            <a:r>
              <a:rPr lang="pl-PL" sz="1600" dirty="0"/>
              <a:t> wysuwane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600" dirty="0"/>
              <a:t>Każda osoba ma wybrać własny kolor tematyczny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600" dirty="0"/>
              <a:t>Znaczniki semantyczne </a:t>
            </a:r>
            <a:r>
              <a:rPr lang="pl-PL" sz="1600" dirty="0" err="1"/>
              <a:t>html</a:t>
            </a:r>
            <a:endParaRPr lang="pl-PL" sz="1600" dirty="0"/>
          </a:p>
          <a:p>
            <a:pPr marL="514350" indent="-514350">
              <a:buFont typeface="+mj-lt"/>
              <a:buAutoNum type="arabicPeriod"/>
            </a:pPr>
            <a:r>
              <a:rPr lang="pl-PL" sz="1600" dirty="0"/>
              <a:t>Po kliknięciu Start, przenosi nas na główną stronę, główna strona jest podzielona na sekcje 1-1-2-1 znacznikami semantycznymi, podział ma być dobrze widoczny, 100vh wysokość strony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600" dirty="0"/>
              <a:t>Po kliknięciu Oferta, przenosi nas na podstronę oferta, podział strony 1-1-1, znaczniku semantyczne, podział ma </a:t>
            </a:r>
            <a:r>
              <a:rPr lang="pl-PL" sz="1600" dirty="0" err="1"/>
              <a:t>byc</a:t>
            </a:r>
            <a:r>
              <a:rPr lang="pl-PL" sz="1600" dirty="0"/>
              <a:t> dobrze widoczny, w sekcji </a:t>
            </a:r>
            <a:r>
              <a:rPr lang="pl-PL" sz="1600" dirty="0" err="1"/>
              <a:t>main</a:t>
            </a:r>
            <a:r>
              <a:rPr lang="pl-PL" sz="1600" dirty="0"/>
              <a:t> mamy </a:t>
            </a:r>
            <a:r>
              <a:rPr lang="pl-PL" sz="1600" dirty="0" err="1"/>
              <a:t>grid</a:t>
            </a:r>
            <a:r>
              <a:rPr lang="pl-PL" sz="1600" dirty="0"/>
              <a:t>, 4 elementy w </a:t>
            </a:r>
            <a:r>
              <a:rPr lang="pl-PL" sz="1600" dirty="0" err="1"/>
              <a:t>srodku</a:t>
            </a:r>
            <a:r>
              <a:rPr lang="pl-PL" sz="1600" dirty="0"/>
              <a:t>, </a:t>
            </a:r>
            <a:r>
              <a:rPr lang="pl-PL" sz="1600" dirty="0" err="1"/>
              <a:t>kazdy</a:t>
            </a:r>
            <a:r>
              <a:rPr lang="pl-PL" sz="1600" dirty="0"/>
              <a:t> ma </a:t>
            </a:r>
            <a:r>
              <a:rPr lang="pl-PL" sz="1600" dirty="0" err="1"/>
              <a:t>zdjecie</a:t>
            </a:r>
            <a:r>
              <a:rPr lang="pl-PL" sz="1600" dirty="0"/>
              <a:t> i opis kategorii oferty, 100vh </a:t>
            </a:r>
            <a:r>
              <a:rPr lang="pl-PL" sz="1600" dirty="0" err="1"/>
              <a:t>wysokosc</a:t>
            </a:r>
            <a:r>
              <a:rPr lang="pl-PL" sz="1600" dirty="0"/>
              <a:t> strony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600" dirty="0"/>
              <a:t>Po kliknięciu Galeria przenosi nas na podstronę galeria, podział strony 1-1, w 2 sekcji ma być galeria która się </a:t>
            </a:r>
            <a:r>
              <a:rPr lang="pl-PL" sz="1600" dirty="0" err="1"/>
              <a:t>scrolluje</a:t>
            </a:r>
            <a:r>
              <a:rPr lang="pl-PL" sz="1600" dirty="0"/>
              <a:t>, dowolne zdjęcia, min. 10 elementów, znaczniki semantyczne, 100vh </a:t>
            </a:r>
            <a:r>
              <a:rPr lang="pl-PL" sz="1600" dirty="0" err="1"/>
              <a:t>wysokosc</a:t>
            </a:r>
            <a:r>
              <a:rPr lang="pl-PL" sz="1600" dirty="0"/>
              <a:t> strony</a:t>
            </a:r>
          </a:p>
          <a:p>
            <a:pPr marL="514350" indent="-514350">
              <a:buFont typeface="+mj-lt"/>
              <a:buAutoNum type="arabicPeriod"/>
            </a:pPr>
            <a:r>
              <a:rPr lang="pl-PL" sz="1600" dirty="0"/>
              <a:t>Po kliknięciu Kontakt przenosi nas na podstronę kontakt, podział strony 1-1[1(nr)-1(email)-1(adres)]-1, znaczniki semantyczne, 100vh </a:t>
            </a:r>
            <a:r>
              <a:rPr lang="pl-PL" sz="1600" dirty="0" err="1"/>
              <a:t>wysokosc</a:t>
            </a:r>
            <a:r>
              <a:rPr lang="pl-PL" sz="1600" dirty="0"/>
              <a:t> strony</a:t>
            </a:r>
          </a:p>
          <a:p>
            <a:pPr marL="514350" indent="-514350">
              <a:buFont typeface="+mj-lt"/>
              <a:buAutoNum type="arabicPeriod"/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3143175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4FCD0A-060C-74C2-E2F9-6DE58A036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Wytłumaczenie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7294969-AC6D-E64B-E925-FA1558F82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Podziały strony przykłady żebyście zrozumieli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9497039B-2BC4-D022-0A67-C1F06C630961}"/>
              </a:ext>
            </a:extLst>
          </p:cNvPr>
          <p:cNvSpPr/>
          <p:nvPr/>
        </p:nvSpPr>
        <p:spPr>
          <a:xfrm>
            <a:off x="976524" y="2920532"/>
            <a:ext cx="2719294" cy="8426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04C8E129-4205-270D-2492-368F29523240}"/>
              </a:ext>
            </a:extLst>
          </p:cNvPr>
          <p:cNvSpPr/>
          <p:nvPr/>
        </p:nvSpPr>
        <p:spPr>
          <a:xfrm>
            <a:off x="968621" y="3871375"/>
            <a:ext cx="2719294" cy="582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DB14F8C4-8B20-144B-2270-4C2AA7317796}"/>
              </a:ext>
            </a:extLst>
          </p:cNvPr>
          <p:cNvSpPr/>
          <p:nvPr/>
        </p:nvSpPr>
        <p:spPr>
          <a:xfrm>
            <a:off x="968621" y="4621821"/>
            <a:ext cx="1237129" cy="94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CA7C2FFD-EC71-A86D-BD47-9A804B7D246C}"/>
              </a:ext>
            </a:extLst>
          </p:cNvPr>
          <p:cNvSpPr/>
          <p:nvPr/>
        </p:nvSpPr>
        <p:spPr>
          <a:xfrm flipV="1">
            <a:off x="2336171" y="4614491"/>
            <a:ext cx="1354154" cy="94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42B5D932-E11F-4CA7-5985-C2F6EC94D91C}"/>
              </a:ext>
            </a:extLst>
          </p:cNvPr>
          <p:cNvSpPr/>
          <p:nvPr/>
        </p:nvSpPr>
        <p:spPr>
          <a:xfrm>
            <a:off x="938307" y="5700806"/>
            <a:ext cx="2719294" cy="792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233CEDD-51AB-4E27-9650-B34A967AF8F7}"/>
              </a:ext>
            </a:extLst>
          </p:cNvPr>
          <p:cNvSpPr txBox="1"/>
          <p:nvPr/>
        </p:nvSpPr>
        <p:spPr>
          <a:xfrm>
            <a:off x="1651001" y="2374342"/>
            <a:ext cx="3830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l-PL" sz="2800" dirty="0"/>
              <a:t>1-1-2-1</a:t>
            </a:r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723E44E8-57C6-C2E3-6A79-C8889DD7255A}"/>
              </a:ext>
            </a:extLst>
          </p:cNvPr>
          <p:cNvSpPr/>
          <p:nvPr/>
        </p:nvSpPr>
        <p:spPr>
          <a:xfrm>
            <a:off x="4335231" y="2930523"/>
            <a:ext cx="2719294" cy="740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Prostokąt 19">
            <a:extLst>
              <a:ext uri="{FF2B5EF4-FFF2-40B4-BE49-F238E27FC236}">
                <a16:creationId xmlns:a16="http://schemas.microsoft.com/office/drawing/2014/main" id="{94E28CBD-AEED-05C3-1BAB-AC81BC2E0850}"/>
              </a:ext>
            </a:extLst>
          </p:cNvPr>
          <p:cNvSpPr/>
          <p:nvPr/>
        </p:nvSpPr>
        <p:spPr>
          <a:xfrm>
            <a:off x="4378922" y="3892621"/>
            <a:ext cx="2719294" cy="26002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0C530CDD-39A8-B174-A537-540387833FF3}"/>
              </a:ext>
            </a:extLst>
          </p:cNvPr>
          <p:cNvSpPr txBox="1"/>
          <p:nvPr/>
        </p:nvSpPr>
        <p:spPr>
          <a:xfrm flipH="1">
            <a:off x="5315447" y="2239405"/>
            <a:ext cx="1958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l-PL" sz="3200" dirty="0"/>
              <a:t>1-1</a:t>
            </a:r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7E54E826-04C1-8B91-FD10-B5518F2999D7}"/>
              </a:ext>
            </a:extLst>
          </p:cNvPr>
          <p:cNvSpPr txBox="1"/>
          <p:nvPr/>
        </p:nvSpPr>
        <p:spPr>
          <a:xfrm flipH="1">
            <a:off x="8542558" y="2237173"/>
            <a:ext cx="92671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l-PL" sz="3200" dirty="0"/>
              <a:t>1-1(1-1-1)-1</a:t>
            </a:r>
          </a:p>
        </p:txBody>
      </p:sp>
      <p:sp>
        <p:nvSpPr>
          <p:cNvPr id="25" name="Prostokąt 24">
            <a:extLst>
              <a:ext uri="{FF2B5EF4-FFF2-40B4-BE49-F238E27FC236}">
                <a16:creationId xmlns:a16="http://schemas.microsoft.com/office/drawing/2014/main" id="{37A65C2F-D1F0-736C-7E05-6B5B7D1AE0E5}"/>
              </a:ext>
            </a:extLst>
          </p:cNvPr>
          <p:cNvSpPr/>
          <p:nvPr/>
        </p:nvSpPr>
        <p:spPr>
          <a:xfrm>
            <a:off x="8074111" y="2971518"/>
            <a:ext cx="2719294" cy="740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7" name="Prostokąt 26">
            <a:extLst>
              <a:ext uri="{FF2B5EF4-FFF2-40B4-BE49-F238E27FC236}">
                <a16:creationId xmlns:a16="http://schemas.microsoft.com/office/drawing/2014/main" id="{1B470D60-6BD6-A66A-0F2A-FBD87FECBE8E}"/>
              </a:ext>
            </a:extLst>
          </p:cNvPr>
          <p:cNvSpPr/>
          <p:nvPr/>
        </p:nvSpPr>
        <p:spPr>
          <a:xfrm>
            <a:off x="8074111" y="5763165"/>
            <a:ext cx="2719294" cy="7407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9" name="Prostokąt 28">
            <a:extLst>
              <a:ext uri="{FF2B5EF4-FFF2-40B4-BE49-F238E27FC236}">
                <a16:creationId xmlns:a16="http://schemas.microsoft.com/office/drawing/2014/main" id="{D7BEB74A-113D-C1CB-0066-AC7EDEE498D8}"/>
              </a:ext>
            </a:extLst>
          </p:cNvPr>
          <p:cNvSpPr/>
          <p:nvPr/>
        </p:nvSpPr>
        <p:spPr>
          <a:xfrm>
            <a:off x="8074111" y="3922201"/>
            <a:ext cx="2719294" cy="1636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1" name="Prostokąt 30">
            <a:extLst>
              <a:ext uri="{FF2B5EF4-FFF2-40B4-BE49-F238E27FC236}">
                <a16:creationId xmlns:a16="http://schemas.microsoft.com/office/drawing/2014/main" id="{53A016C0-5F0A-47C8-5DAE-3A00A4A5BC3F}"/>
              </a:ext>
            </a:extLst>
          </p:cNvPr>
          <p:cNvSpPr/>
          <p:nvPr/>
        </p:nvSpPr>
        <p:spPr>
          <a:xfrm>
            <a:off x="8206191" y="4064468"/>
            <a:ext cx="2432747" cy="3897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rostokąt 32">
            <a:extLst>
              <a:ext uri="{FF2B5EF4-FFF2-40B4-BE49-F238E27FC236}">
                <a16:creationId xmlns:a16="http://schemas.microsoft.com/office/drawing/2014/main" id="{58659A9F-0AB3-5198-5774-72EDF757A8DE}"/>
              </a:ext>
            </a:extLst>
          </p:cNvPr>
          <p:cNvSpPr/>
          <p:nvPr/>
        </p:nvSpPr>
        <p:spPr>
          <a:xfrm>
            <a:off x="8192627" y="4589158"/>
            <a:ext cx="2432747" cy="3897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5" name="Prostokąt 34">
            <a:extLst>
              <a:ext uri="{FF2B5EF4-FFF2-40B4-BE49-F238E27FC236}">
                <a16:creationId xmlns:a16="http://schemas.microsoft.com/office/drawing/2014/main" id="{23F009B6-3867-F082-3288-7348FAFD1B7B}"/>
              </a:ext>
            </a:extLst>
          </p:cNvPr>
          <p:cNvSpPr/>
          <p:nvPr/>
        </p:nvSpPr>
        <p:spPr>
          <a:xfrm>
            <a:off x="8192626" y="5113848"/>
            <a:ext cx="2432747" cy="38975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3989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dirty="0">
                <a:latin typeface="Bahnschrift SemiBold SemiConden" panose="020B0502040204020203" pitchFamily="34" charset="0"/>
              </a:rPr>
              <a:t>KONIEC</a:t>
            </a:r>
          </a:p>
        </p:txBody>
      </p:sp>
    </p:spTree>
    <p:extLst>
      <p:ext uri="{BB962C8B-B14F-4D97-AF65-F5344CB8AC3E}">
        <p14:creationId xmlns:p14="http://schemas.microsoft.com/office/powerpoint/2010/main" val="230001174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488</Words>
  <Application>Microsoft Office PowerPoint</Application>
  <PresentationFormat>Panoramiczny</PresentationFormat>
  <Paragraphs>140</Paragraphs>
  <Slides>17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18" baseType="lpstr">
      <vt:lpstr>Motyw pakietu Office</vt:lpstr>
      <vt:lpstr>MENU</vt:lpstr>
      <vt:lpstr>Czym jest menu?</vt:lpstr>
      <vt:lpstr>Czego używamy do tworzenia menu</vt:lpstr>
      <vt:lpstr>Przykładowa struktura menu</vt:lpstr>
      <vt:lpstr>Rodzaje menu</vt:lpstr>
      <vt:lpstr>Menu poziome</vt:lpstr>
      <vt:lpstr>Menu poziome - ćwiczenie</vt:lpstr>
      <vt:lpstr>Menu pionowe</vt:lpstr>
      <vt:lpstr>Menu pionowe - ćwiczenie</vt:lpstr>
      <vt:lpstr>Porównanie</vt:lpstr>
      <vt:lpstr>Menu wielopoziomowe</vt:lpstr>
      <vt:lpstr>Jak tworzyć menu wielopoziomowe?</vt:lpstr>
      <vt:lpstr>Menu wielopoziomowe - ćwiczenie</vt:lpstr>
      <vt:lpstr>RWD Menu</vt:lpstr>
      <vt:lpstr>Menu responsywne - ćwiczenie</vt:lpstr>
      <vt:lpstr>Wytłumaczenie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</dc:title>
  <dc:creator>Kech Uri</dc:creator>
  <cp:lastModifiedBy>Michał Żołdak (2P)</cp:lastModifiedBy>
  <cp:revision>12</cp:revision>
  <dcterms:created xsi:type="dcterms:W3CDTF">2026-01-15T20:21:46Z</dcterms:created>
  <dcterms:modified xsi:type="dcterms:W3CDTF">2026-01-23T11:35:35Z</dcterms:modified>
</cp:coreProperties>
</file>